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ableStyles.xml" ContentType="application/vnd.openxmlformats-officedocument.presentationml.tableStyles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6"/>
  </p:notesMasterIdLst>
  <p:sldIdLst>
    <p:sldId id="256" r:id="rId1"/>
    <p:sldId id="257" r:id="rId2"/>
    <p:sldId id="258" r:id="rId3"/>
    <p:sldId id="259" r:id="rId4"/>
    <p:sldId id="260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2" Type="http://schemas.openxmlformats.org/officeDocument/2006/relationships/slide" Target="slides/slide2.xml" /><Relationship Id="rId1" Type="http://schemas.openxmlformats.org/officeDocument/2006/relationships/slide" Target="slides/slide1.xml" /><Relationship Id="rId8" Type="http://schemas.openxmlformats.org/officeDocument/2006/relationships/tableStyles" Target="tableStyle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7" Type="http://schemas.openxmlformats.org/officeDocument/2006/relationships/presProps" Target="presProps.xml" /><Relationship Id="rId5" Type="http://schemas.openxmlformats.org/officeDocument/2006/relationships/slide" Target="slides/slide5.xml" /><Relationship Id="rId6" Type="http://schemas.openxmlformats.org/officeDocument/2006/relationships/notesMaster" Target="notesMasters/notesMaster1.xml" /><Relationship Id="rId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5" Type="http://schemas.openxmlformats.org/officeDocument/2006/relationships/image" Target="media/image6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Relationship Id="rId3" Type="http://schemas.openxmlformats.org/officeDocument/2006/relationships/image" Target="media/image4.svg" /><Relationship Id="rId2" Type="http://schemas.openxmlformats.org/officeDocument/2006/relationships/image" Target="media/image3.svg" /><Relationship Id="rId4" Type="http://schemas.openxmlformats.org/officeDocument/2006/relationships/image" Target="media/image5.svg" /><Relationship Id="rId6" Type="http://schemas.openxmlformats.org/officeDocument/2006/relationships/image" Target="media/image7.svg" /></Relationships>
</file>

<file path=ppt/slides/_rels/slide3.xml.rels><?xml version="1.0" encoding="UTF-8" standalone="yes"?><Relationships xmlns="http://schemas.openxmlformats.org/package/2006/relationships"><Relationship Id="rId3" Type="http://schemas.openxmlformats.org/officeDocument/2006/relationships/image" Target="media/image10.svg" /><Relationship Id="rId0" Type="http://schemas.openxmlformats.org/officeDocument/2006/relationships/slideLayout" Target="../slideLayouts/slideLayout1.xml" /><Relationship Id="rId4" Type="http://schemas.openxmlformats.org/officeDocument/2006/relationships/image" Target="media/image11.png" /><Relationship Id="rId2" Type="http://schemas.openxmlformats.org/officeDocument/2006/relationships/image" Target="media/image9.svg" /><Relationship Id="rId1" Type="http://schemas.openxmlformats.org/officeDocument/2006/relationships/image" Target="media/image8.svg" /></Relationships>
</file>

<file path=ppt/slides/_rels/slide4.xml.rels><?xml version="1.0" encoding="UTF-8" standalone="yes"?><Relationships xmlns="http://schemas.openxmlformats.org/package/2006/relationships"><Relationship Id="rId4" Type="http://schemas.openxmlformats.org/officeDocument/2006/relationships/image" Target="media/image15.svg" /><Relationship Id="rId3" Type="http://schemas.openxmlformats.org/officeDocument/2006/relationships/image" Target="media/image14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Relationship Id="rId2" Type="http://schemas.openxmlformats.org/officeDocument/2006/relationships/image" Target="media/image13.png" /><Relationship Id="rId5" Type="http://schemas.openxmlformats.org/officeDocument/2006/relationships/image" Target="media/image16.sv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7.sv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&#10;    width: '1280px',&#10;    height: '720px',&#10;    position: 'relative',&#10;    background: '#F4F7FF',&#10;    overflow: 'hidden',&#10;    padding: 0,&#10;}}&gt;&#10;    &lt;Image&#10;        src='assets/cover_campus_ai.png'&#10;        style={{&#10;            position: 'absolute',&#10;            left: 520,&#10;            top: 0,&#10;            width: 760,&#10;            height: 750,&#10;            objectFit: 'cover',&#10;        }}&#10;    /&gt;&#10;    &lt;Box style={{&#10;        position: 'absolute',&#10;        left: 0,&#10;        top: 0,&#10;        width: 520,&#10;        height: 720,&#10;        background: '#1E3A8A',&#10;        padding: '56px 48px',&#10;        flexDirection: 'column',&#10;    }}&gt;&#10;        &lt;Box style={{ flexDirection: 'row', alignItems: 'center', gap: 12 }}&gt;&#10;            &lt;Box style={{ width: 6, height: 24, background: '#2563EB' }} /&gt;&#10;            &lt;Text style={{ fontSize: 18, color: 'rgba(255,255,255,0.75)', letterSpacing: 2 }}&gt;学习效率手册&lt;/Text&gt;&#10;        &lt;/Box&gt;&#10;        &lt;Box style={{ height: 40 }} /&gt;&#10;        &lt;Text style={{ fontSize: 64, fontWeight: 'bold', color: '#FFFFFF', lineHeight: 1.15 }}&gt;大学生必备&lt;/Text&gt;&#10;        &lt;Text style={{ fontSize: 42, fontWeight: 'bold', color: 'rgba(255,255,255,0.9)', lineHeight: 1.2 }}&gt;AI工具使用指南&lt;/Text&gt;&#10;        &lt;Box style={{ height: 24 }} /&gt;&#10;        &lt;Box style={{ width: 96, height: 2, background: 'rgba(255,255,255,0.35)' }} /&gt;&#10;        &lt;Box style={{ height: 20 }} /&gt;&#10;        &lt;Text style={{ fontSize: 26, color: 'rgba(255,255,255,0.92)', lineHeight: 1.4 }}&gt;——零基础入门，快速上手&lt;/Text&gt;&#10;        &lt;Box style={{ height: 12 }} /&gt;&#10;        &lt;Text style={{ fontSize: 18, color: 'rgba(255,255,255,0.62)', lineHeight: 1.5 }}&gt;三类工具 · 读 · 写 · 做&lt;/Text&gt;&#10;        &lt;Box style={{ flex: 1 }} /&gt;&#10;        &lt;Box style={{ flexDirection: 'row', justifyContent: 'space-between', alignItems: 'flex-end' }}&gt;&#10;            &lt;Text style={{ fontSize: 14, color: 'rgba(255,255,255,0.55)' }}&gt;校园学习经验分享 · 2026&lt;/Text&gt;&#10;            &lt;Text style={{ fontSize: 14, color: 'rgba(255,255,255,0.75)' }}&gt;01 / 05&lt;/Text&gt;&#10;        &lt;/Box&gt;&#10;    &lt;/Box&gt;&#10;    &lt;Box style={{&#10;        position: 'absolute',&#10;        left: 514,&#10;        top: 300,&#10;        width: 6,&#10;        height: 96,&#10;        background: '#2563EB',&#10;   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7FF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16222" t="0" r="16222" b="0"/>
          <a:stretch>
            <a:fillRect/>
          </a:stretch>
        </p:blipFill>
        <p:spPr>
          <a:xfrm rot="0" flipH="0" flipV="0">
            <a:off x="4953000" y="0"/>
            <a:ext cx="7239000" cy="7143750"/>
          </a:xfrm>
          <a:custGeom>
            <a:pathLst>
              <a:path w="760" h="750">
                <a:moveTo>
                  <a:pt x="760" y="720"/>
                </a:moveTo>
                <a:lnTo>
                  <a:pt x="0" y="720"/>
                </a:lnTo>
                <a:lnTo>
                  <a:pt x="0" y="0"/>
                </a:lnTo>
                <a:lnTo>
                  <a:pt x="760" y="0"/>
                </a:lnTo>
                <a:close/>
              </a:path>
            </a:pathLst>
          </a:cu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4953000" cy="685800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457200" y="533400"/>
            <a:ext cx="57150" cy="2286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28650" y="542925"/>
            <a:ext cx="114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spc="1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学习效率手册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457200" y="1143000"/>
            <a:ext cx="4038600" cy="84772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800" b="1">
                <a:solidFill>
                  <a:srgbClr val="FFFFFF"/>
                </a:solidFill>
                <a:latin typeface="Microsoft YaHei"/>
                <a:ea typeface="Microsoft YaHei"/>
              </a:rPr>
              <a:t>大学生必备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457200" y="1990725"/>
            <a:ext cx="4038600" cy="5810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150" b="1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AI</a:t>
            </a:r>
            <a:r>
              <a:rPr lang="zh-CN" sz="3150" b="1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工具使用指南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457200" y="2800350"/>
            <a:ext cx="914400" cy="1905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457200" y="3009900"/>
            <a:ext cx="4038600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——零基础入门，快速上手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457200" y="3543300"/>
            <a:ext cx="40386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三类工具</a:t>
            </a:r>
            <a:r>
              <a:rPr lang="en-US" sz="13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读</a:t>
            </a:r>
            <a:r>
              <a:rPr lang="en-US" sz="13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写</a:t>
            </a:r>
            <a:r>
              <a:rPr lang="en-US" sz="13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350">
                <a:solidFill>
                  <a:srgbClr val="FFFFFF">
                    <a:alpha val="62000"/>
                  </a:srgbClr>
                </a:solidFill>
                <a:latin typeface="Microsoft YaHei"/>
                <a:ea typeface="Microsoft YaHei"/>
              </a:rPr>
              <a:t>做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457200" y="6162675"/>
            <a:ext cx="1495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校园学习经验分享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· 2026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4038600" y="6162675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01 / 05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895850" y="2857500"/>
            <a:ext cx="57150" cy="9144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5" name="" descr="&lt;Slide style={{&#10;    width: '1280px',&#10;    height: '720px',&#10;    background: '#F4F7FF',&#10;    padding: '24px 64px',&#10;    flexDirection: 'column',&#10;}}&gt;&#10;    &lt;Box style={{ height: 96, flexDirection: 'row', alignItems: 'center', gap: 16 }}&gt;&#10;        &lt;Box style={{ width: 6, height: 44, background: '#2563EB' }} /&gt;&#10;        &lt;Box style={{ flexDirection: 'column', justifyContent: 'center' }}&gt;&#10;            &lt;Text style={{ fontSize: 34, fontWeight: 'bold', color: '#1E3A8A', lineHeight: 1.25 }}&gt;工具一 · 长文档阅读助手&lt;/Text&gt;&#10;            &lt;Text style={{ fontSize: 15, color: 'rgba(30,58,138,0.65)', lineHeight: 1.5 }}&gt;代表工具：Kimi · 豆包 · NotebookLM&lt;/Text&gt;&#10;        &lt;/Box&gt;&#10;    &lt;/Box&gt;&#10;    &lt;Box style={{ height: 516, flexDirection: 'row', gap: 28 }}&gt;&#10;        &lt;Box style={{ width: 512, height: 516, borderRadius: 16, overflow: 'hidden', background: '#FFFFFF' }}&gt;&#10;            &lt;Image&#10;                src='assets/tool1_reading.png'&#10;                style={{ width: 512, height: 516, objectFit: 'cover' }}&#10;            /&gt;&#10;        &lt;/Box&gt;&#10;        &lt;Box style={{ width: 612, height: 516, flexDirection: 'column', gap: 14 }}&gt;&#10;            &lt;Box style={{&#10;                background: '#1E3A8A',&#10;                borderRadius: 14,&#10;                padding: '16px 22px',&#10;                flexDirection: 'row',&#10;                gap: 14,&#10;                alignItems: 'center',&#10;            }}&gt;&#10;                &lt;FAIcon name='compass' style={{ fill: '#F4F7FF', width: 26, height: 26 }} /&gt;&#10;                &lt;Box style={{ flexDirection: 'column' }}&gt;&#10;                    &lt;Text style={{ fontSize: 14, color: 'rgba(244,247,255,0.7)', lineHeight: 1.4 }}&gt;一句话定位&lt;/Text&gt;&#10;                    &lt;Text style={{ fontSize: 20, fontWeight: 'bold', color: '#FFFFFF', lineHeight: 1.45 }}&gt;把上百页文献「读薄」，先看懂、再精读&lt;/Text&gt;&#10;                &lt;/Box&gt;&#10;            &lt;/Box&gt;&#10;            &lt;Box style={{&#10;                background: '#FFFFFF',&#10;                border: '1px solid rgba(37,99,235,0.22)',&#10;                borderRadius: 14,&#10;                padding: '18px 22px',&#10;                flexDirection: 'column',&#10;            }}&gt;&#10;                &lt;Text style={{ fontSize: 15, fontWeight: 'bold', color: '#2563EB', lineHeight: 1.4 }}&gt;3 个核心功能&lt;/Text&gt;&#10;                &lt;Box style={{ height: 14 }} /&gt;&#10;                &lt;Box style={{ flexDirection: 'row', gap: 12, alignItems: 'flex-start' }}&gt;&#10;                    &lt;FAIcon name='book-open' style={{ fill: '#2563EB', width: 22, height: 22 }} /&gt;&#10;                    &lt;Box style={{ flexDirection: 'column' }}&gt;&#10;                        &lt;Text style={{ fontSize: 19, fontWeight: 'bold', color: '#1E3A8A', lineHeight: 1.4 }}&gt;长文速读&lt;/Text&gt;&#10;                        &lt;Text style={{ fontSize: 16, color: '#111827', lineHeight: 1.5 }}&gt;上百页 PDF / 课件一次投喂，自动出摘要与提纲&lt;/Text&gt;&#10;                    &lt;/Box&gt;&#10;                &lt;/Box&gt;&#10;                &lt;Box style={{ height: 12 }} /&gt;&#10;                &lt;Box style={{ flexDirection: 'row', gap: 12, alignItems: 'flex-start' }}&gt;&#10;                    &lt;FAIcon name='comment-dots' style={{ fill: '#2563EB', width: 22, height: 22 }} /&gt;&#10;                    &lt;Box style={{ flexDirection: 'column' }}&gt;&#10;                        &lt;Text style={{ fontSize: 19, fontWeight: 'bold', color: '#1E3A8A', lineHeight: 1.4 }}&gt;追问释义&lt;/Text&gt;&#10;                        &lt;Text style={{ fontSize: 16, color: '#111827', lineHeight: 1.5 }}&gt;圈出读不懂的段落逐句追问，像助教一样讲透&lt;/Text&gt;&#10;                    &lt;/Box&gt;&#10;                &lt;/Box&gt;&#10;                &lt;Box style={{ height: 12 }} /&gt;&#10;                &lt;Box style={{ flexDirection: 'row', gap: 12, alignItems: 'flex-start' }}&gt;&#10;                    &lt;FAIcon name='layer-group' style={{ fill: '#2563EB', width: 22, height: 22 }} /&gt;&#10;                    &lt;Box style={{ flexDirection: 'column' }}&gt;&#10;                        &lt;Text style={{ fontSize: 19, fontWeight: 'bold', color: '#1E3A8A', lineHeight: 1.4 }}&gt;跨文对比&lt;/Text&gt;&#10;                        &lt;Text style={{ fontSize: 16, color: '#111827', lineHeight: 1.5 }}&gt;多篇文献一键比对观点与结论，快速定位差异&lt;/Text&gt;&#10;                    &lt;/Box&gt;&#10;                &lt;/Box&gt;&#10;            &lt;/Box&gt;&#10;            &lt;Box style={{ flexDirection: 'row', alignItems: 'center', gap: 10, paddingLeft: 4 }}&gt;&#10;                &lt;Text style={{ fontSize: 14, fontWeight: 'bold', color: '#2563EB', lineHeight: 1.4 }}&gt;上手难度&lt;/Text&gt;&#10;                &lt;Box style={{ flexDirection: 'row', alignItems: 'center', gap: 2 }}&gt;&#10;                    &lt;Text style={{ fontSize: 16, color: '#2563EB', lineHeight: 1.4 }}&gt;★&lt;/Text&gt;&#10;                    &lt;Text style={{ fontSize: 16, color: 'rgba(37,99,235,0.28)', lineHeight: 1.4 }}&gt;★★&lt;/Text&gt;&#10;                &lt;/Box&gt;&#10;                &lt;Text style={{ fontSize: 14, color: 'rgba(30,58,138,0.6)', lineHeight: 1.4 }}&gt;极易上手 · 会打字就会用&lt;/Text&gt;&#10;            &lt;/Box&gt;&#10;            &lt;Box style={{&#10;                marginTop: 'auto',&#10;                background: 'rgba(37,99,235,0.10)',&#10;                borderRadius: 14,&#10;                padding: '16px 22px',&#10;                flexDirection: 'row',&#10;                gap: 12,&#10;                alignItems: 'flex-start',&#10;            }}&gt;&#10;                &lt;FAIcon name='graduation-cap' style={{ fill: '#2563EB', width: 22, height: 22 }} /&gt;&#10;                &lt;Box style={{ flexDirection: 'column' }}&gt;&#10;                    &lt;Text style={{ fontSize: 15, fontWeight: 'bold', color: '#1E3A8A', lineHeight: 1.4 }}&gt;适用场景&lt;/Text&gt;&#10;                    &lt;Text style={{ fontSize: 17, color: '#111827', lineHeight: 1.55 }}&gt;期末带 5 篇英文文献先出摘要再精读 · 200 页课件压缩成一页提纲 · 预习时判断文章值不值得细读&lt;/Text&gt;&#10;                &lt;/Box&gt;&#10;            &lt;/Box&gt;&#10;        &lt;/Box&gt;&#10;    &lt;/Box&gt;&#10;    &lt;Box style={{ height: 60, flexDirection: 'row', justifyContent: 'space-between', alignItems: 'center' }}&gt;&#10;        &lt;Text style={{ fontSize: 14, color: 'rgba(30,58,138,0.45)' }}&gt;大学生必备AI工具使用指南&lt;/Text&gt;&#10;        &lt;Text style={{ fontSize: 14, color: 'rgba(30,58,138,0.45)' }}&gt;02 / 0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7FF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09600" y="476250"/>
            <a:ext cx="57150" cy="419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819150" y="314325"/>
            <a:ext cx="35814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E3A8A"/>
                </a:solidFill>
                <a:latin typeface="Microsoft YaHei"/>
                <a:ea typeface="Microsoft YaHei"/>
              </a:rPr>
              <a:t>工具一</a:t>
            </a:r>
            <a:r>
              <a:rPr lang="en-US" sz="2550" b="1">
                <a:solidFill>
                  <a:srgbClr val="1E3A8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1E3A8A"/>
                </a:solidFill>
                <a:latin typeface="Microsoft YaHei"/>
                <a:ea typeface="Microsoft YaHei"/>
              </a:rPr>
              <a:t>长文档阅读助手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19150" y="800100"/>
            <a:ext cx="3581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E3A8A">
                    <a:alpha val="65000"/>
                  </a:srgbClr>
                </a:solidFill>
                <a:latin typeface="Microsoft YaHei"/>
                <a:ea typeface="Microsoft YaHei"/>
              </a:rPr>
              <a:t>代表工具：</a:t>
            </a:r>
            <a:r>
              <a:rPr lang="en-US" sz="1125">
                <a:solidFill>
                  <a:srgbClr val="1E3A8A">
                    <a:alpha val="65000"/>
                  </a:srgbClr>
                </a:solidFill>
                <a:latin typeface="Microsoft YaHei"/>
                <a:ea typeface="Microsoft YaHei"/>
              </a:rPr>
              <a:t xml:space="preserve">Kimi · </a:t>
            </a:r>
            <a:r>
              <a:rPr lang="zh-CN" sz="1125">
                <a:solidFill>
                  <a:srgbClr val="1E3A8A">
                    <a:alpha val="65000"/>
                  </a:srgbClr>
                </a:solidFill>
                <a:latin typeface="Microsoft YaHei"/>
                <a:ea typeface="Microsoft YaHei"/>
              </a:rPr>
              <a:t>豆包</a:t>
            </a:r>
            <a:r>
              <a:rPr lang="en-US" sz="1125">
                <a:solidFill>
                  <a:srgbClr val="1E3A8A">
                    <a:alpha val="65000"/>
                  </a:srgbClr>
                </a:solidFill>
                <a:latin typeface="Microsoft YaHei"/>
                <a:ea typeface="Microsoft YaHei"/>
              </a:rPr>
              <a:t xml:space="preserve"> · NotebookLM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09600" y="1143000"/>
            <a:ext cx="4876800" cy="49149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1" name=""/>
          <p:cNvPicPr>
            <a:picLocks noChangeAspect="1"/>
          </p:cNvPicPr>
          <p:nvPr/>
        </p:nvPicPr>
        <p:blipFill>
          <a:blip r:embed="rId1"/>
          <a:srcRect l="387" t="0" r="387" b="0"/>
          <a:stretch>
            <a:fillRect/>
          </a:stretch>
        </p:blipFill>
        <p:spPr>
          <a:xfrm rot="0" flipH="0" flipV="0">
            <a:off x="609600" y="1143000"/>
            <a:ext cx="4876800" cy="4914900"/>
          </a:xfrm>
          <a:custGeom>
            <a:pathLst>
              <a:path w="512" h="516">
                <a:moveTo>
                  <a:pt x="496" y="0"/>
                </a:moveTo>
                <a:cubicBezTo>
                  <a:pt x="505" y="0"/>
                  <a:pt x="512" y="7"/>
                  <a:pt x="512" y="16"/>
                </a:cubicBezTo>
                <a:lnTo>
                  <a:pt x="512" y="500"/>
                </a:lnTo>
                <a:cubicBezTo>
                  <a:pt x="512" y="509"/>
                  <a:pt x="505" y="516"/>
                  <a:pt x="496" y="516"/>
                </a:cubicBezTo>
                <a:lnTo>
                  <a:pt x="16" y="516"/>
                </a:lnTo>
                <a:cubicBezTo>
                  <a:pt x="7" y="516"/>
                  <a:pt x="0" y="509"/>
                  <a:pt x="0" y="50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496" y="0"/>
                </a:lnTo>
                <a:close/>
              </a:path>
            </a:pathLst>
          </a:custGeom>
          <a:ln/>
        </p:spPr>
      </p:pic>
      <p:sp>
        <p:nvSpPr>
          <p:cNvPr id="22" name=""/>
          <p:cNvSpPr/>
          <p:nvPr/>
        </p:nvSpPr>
        <p:spPr>
          <a:xfrm rot="0" flipH="0" flipV="0">
            <a:off x="5753100" y="1143000"/>
            <a:ext cx="5829300" cy="866775"/>
          </a:xfrm>
          <a:prstGeom prst="roundRect">
            <a:avLst>
              <a:gd name="adj" fmla="val 15385"/>
            </a:avLst>
          </a:prstGeom>
          <a:solidFill>
            <a:srgbClr val="1E3A8A"/>
          </a:solidFill>
          <a:ln/>
        </p:spPr>
        <p:txBody>
          <a:bodyPr/>
          <a:p/>
        </p:txBody>
      </p:sp>
      <p:pic>
        <p:nvPicPr>
          <p:cNvPr id="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962650" y="1457325"/>
            <a:ext cx="247650" cy="247650"/>
          </a:xfrm>
          <a:prstGeom prst="rect">
            <a:avLst/>
          </a:prstGeom>
          <a:ln/>
        </p:spPr>
      </p:pic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343650" y="1295400"/>
            <a:ext cx="34290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F4F7FF">
                    <a:alpha val="70000"/>
                  </a:srgbClr>
                </a:solidFill>
                <a:latin typeface="Microsoft YaHei"/>
                <a:ea typeface="Microsoft YaHei"/>
              </a:rPr>
              <a:t>一句话定位</a:t>
            </a:r>
            <a:endParaRPr/>
          </a:p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343650" y="1524000"/>
            <a:ext cx="342900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把上百页文献「读薄」，先看懂、再精读</a:t>
            </a:r>
            <a:endParaRPr/>
          </a:p>
        </p:txBody>
      </p:sp>
      <p:sp>
        <p:nvSpPr>
          <p:cNvPr id="26" name=""/>
          <p:cNvSpPr/>
          <p:nvPr/>
        </p:nvSpPr>
        <p:spPr>
          <a:xfrm rot="0" flipH="0" flipV="0">
            <a:off x="5753100" y="2143125"/>
            <a:ext cx="5829300" cy="2695575"/>
          </a:xfrm>
          <a:prstGeom prst="roundRect">
            <a:avLst>
              <a:gd name="adj" fmla="val 4947"/>
            </a:avLst>
          </a:prstGeom>
          <a:solidFill>
            <a:srgbClr val="FFFFFF"/>
          </a:solidFill>
          <a:ln w="12700">
            <a:solidFill>
              <a:srgbClr val="2563EB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5962650" y="2314575"/>
            <a:ext cx="54102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个核心功能</a:t>
            </a:r>
            <a:endParaRPr/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5962650" y="2695575"/>
            <a:ext cx="209550" cy="209550"/>
          </a:xfrm>
          <a:prstGeom prst="rect">
            <a:avLst/>
          </a:prstGeom>
          <a:ln/>
        </p:spPr>
      </p:pic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286500" y="2695575"/>
            <a:ext cx="32385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3A8A"/>
                </a:solidFill>
                <a:latin typeface="Microsoft YaHei"/>
                <a:ea typeface="Microsoft YaHei"/>
              </a:rPr>
              <a:t>长文速读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286500" y="3000375"/>
            <a:ext cx="32385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11827"/>
                </a:solidFill>
                <a:latin typeface="Microsoft YaHei"/>
                <a:ea typeface="Microsoft YaHei"/>
              </a:rPr>
              <a:t>上百页</a:t>
            </a:r>
            <a:r>
              <a:rPr lang="en-US" sz="1200">
                <a:solidFill>
                  <a:srgbClr val="111827"/>
                </a:solidFill>
                <a:latin typeface="Microsoft YaHei"/>
                <a:ea typeface="Microsoft YaHei"/>
              </a:rPr>
              <a:t xml:space="preserve"> PDF / </a:t>
            </a:r>
            <a:r>
              <a:rPr lang="zh-CN" sz="1200">
                <a:solidFill>
                  <a:srgbClr val="111827"/>
                </a:solidFill>
                <a:latin typeface="Microsoft YaHei"/>
                <a:ea typeface="Microsoft YaHei"/>
              </a:rPr>
              <a:t>课件一次投喂，自动出摘要与提纲</a:t>
            </a:r>
            <a:endParaRPr/>
          </a:p>
        </p:txBody>
      </p:sp>
      <p:pic>
        <p:nvPicPr>
          <p:cNvPr id="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5962650" y="3390900"/>
            <a:ext cx="209550" cy="209550"/>
          </a:xfrm>
          <a:prstGeom prst="rect">
            <a:avLst/>
          </a:prstGeom>
          <a:ln/>
        </p:spPr>
      </p:pic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286500" y="3390900"/>
            <a:ext cx="30480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3A8A"/>
                </a:solidFill>
                <a:latin typeface="Microsoft YaHei"/>
                <a:ea typeface="Microsoft YaHei"/>
              </a:rPr>
              <a:t>追问释义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286500" y="3695700"/>
            <a:ext cx="3048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11827"/>
                </a:solidFill>
                <a:latin typeface="Microsoft YaHei"/>
                <a:ea typeface="Microsoft YaHei"/>
              </a:rPr>
              <a:t>圈出读不懂的段落逐句追问，像助教一样讲透</a:t>
            </a:r>
            <a:endParaRPr/>
          </a:p>
        </p:txBody>
      </p:sp>
      <p:pic>
        <p:nvPicPr>
          <p:cNvPr id="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5962650" y="4086225"/>
            <a:ext cx="209550" cy="209550"/>
          </a:xfrm>
          <a:prstGeom prst="rect">
            <a:avLst/>
          </a:prstGeom>
          <a:ln/>
        </p:spPr>
      </p:pic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286500" y="4086225"/>
            <a:ext cx="30480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3A8A"/>
                </a:solidFill>
                <a:latin typeface="Microsoft YaHei"/>
                <a:ea typeface="Microsoft YaHei"/>
              </a:rPr>
              <a:t>跨文对比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286500" y="4391025"/>
            <a:ext cx="3048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11827"/>
                </a:solidFill>
                <a:latin typeface="Microsoft YaHei"/>
                <a:ea typeface="Microsoft YaHei"/>
              </a:rPr>
              <a:t>多篇文献一键比对观点与结论，快速定位差异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5791200" y="4991100"/>
            <a:ext cx="5334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 b="1">
                <a:solidFill>
                  <a:srgbClr val="2563EB"/>
                </a:solidFill>
                <a:latin typeface="Microsoft YaHei"/>
                <a:ea typeface="Microsoft YaHei"/>
              </a:rPr>
              <a:t>上手难度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6419850" y="4972050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sz="1200">
                <a:solidFill>
                  <a:srgbClr val="2563EB"/>
                </a:solidFill>
                <a:latin typeface="Microsoft YaHei"/>
                <a:ea typeface="Microsoft YaHei"/>
              </a:rPr>
              <a:t>★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572250" y="4972050"/>
            <a:ext cx="25717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sz="1200">
                <a:solidFill>
                  <a:srgbClr val="2563EB">
                    <a:alpha val="28000"/>
                  </a:srgbClr>
                </a:solidFill>
                <a:latin typeface="Microsoft YaHei"/>
                <a:ea typeface="Microsoft YaHei"/>
              </a:rPr>
              <a:t>★★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924675" y="4991100"/>
            <a:ext cx="14478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1E3A8A">
                    <a:alpha val="60000"/>
                  </a:srgbClr>
                </a:solidFill>
                <a:latin typeface="Microsoft YaHei"/>
                <a:ea typeface="Microsoft YaHei"/>
              </a:rPr>
              <a:t>极易上手</a:t>
            </a:r>
            <a:r>
              <a:rPr lang="en-US" sz="1050">
                <a:solidFill>
                  <a:srgbClr val="1E3A8A">
                    <a:alpha val="6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1E3A8A">
                    <a:alpha val="60000"/>
                  </a:srgbClr>
                </a:solidFill>
                <a:latin typeface="Microsoft YaHei"/>
                <a:ea typeface="Microsoft YaHei"/>
              </a:rPr>
              <a:t>会打字就会用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5753100" y="4895850"/>
            <a:ext cx="5829300" cy="1162050"/>
          </a:xfrm>
          <a:prstGeom prst="roundRect">
            <a:avLst>
              <a:gd name="adj" fmla="val 11475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pic>
        <p:nvPicPr>
          <p:cNvPr id="4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5962650" y="5048250"/>
            <a:ext cx="209550" cy="209550"/>
          </a:xfrm>
          <a:prstGeom prst="rect">
            <a:avLst/>
          </a:prstGeom>
          <a:ln/>
        </p:spPr>
      </p:pic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6276975" y="5048250"/>
            <a:ext cx="509587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1E3A8A"/>
                </a:solidFill>
                <a:latin typeface="Microsoft YaHei"/>
                <a:ea typeface="Microsoft YaHei"/>
              </a:rPr>
              <a:t>适用场景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276975" y="5295900"/>
            <a:ext cx="50958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275">
                <a:solidFill>
                  <a:srgbClr val="111827"/>
                </a:solidFill>
                <a:latin typeface="Microsoft YaHei"/>
                <a:ea typeface="Microsoft YaHei"/>
              </a:rPr>
              <a:t>期末带</a:t>
            </a:r>
            <a:r>
              <a:rPr lang="en-US" sz="1275">
                <a:solidFill>
                  <a:srgbClr val="111827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275">
                <a:solidFill>
                  <a:srgbClr val="111827"/>
                </a:solidFill>
                <a:latin typeface="Microsoft YaHei"/>
                <a:ea typeface="Microsoft YaHei"/>
              </a:rPr>
              <a:t>篇英文文献先出摘要再精读</a:t>
            </a:r>
            <a:r>
              <a:rPr lang="en-US" sz="1275">
                <a:solidFill>
                  <a:srgbClr val="111827"/>
                </a:solidFill>
                <a:latin typeface="Microsoft YaHei"/>
                <a:ea typeface="Microsoft YaHei"/>
              </a:rPr>
              <a:t xml:space="preserve"> · 200 </a:t>
            </a:r>
            <a:r>
              <a:rPr lang="zh-CN" sz="1275">
                <a:solidFill>
                  <a:srgbClr val="111827"/>
                </a:solidFill>
                <a:latin typeface="Microsoft YaHei"/>
                <a:ea typeface="Microsoft YaHei"/>
              </a:rPr>
              <a:t>页课件压缩成一页提纲</a:t>
            </a:r>
            <a:r>
              <a:rPr lang="en-US" sz="1275">
                <a:solidFill>
                  <a:srgbClr val="11182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>
                <a:solidFill>
                  <a:srgbClr val="111827"/>
                </a:solidFill>
                <a:latin typeface="Microsoft YaHei"/>
                <a:ea typeface="Microsoft YaHei"/>
              </a:rPr>
              <a:t>预习时判断文章值不值得细读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09600" y="626745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3A8A">
                    <a:alpha val="45000"/>
                  </a:srgbClr>
                </a:solidFill>
                <a:latin typeface="Microsoft YaHei"/>
                <a:ea typeface="Microsoft YaHei"/>
              </a:rPr>
              <a:t>大学生必备</a:t>
            </a:r>
            <a:r>
              <a:rPr lang="en-US" sz="1050">
                <a:solidFill>
                  <a:srgbClr val="1E3A8A">
                    <a:alpha val="45000"/>
                  </a:srgbClr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1E3A8A">
                    <a:alpha val="45000"/>
                  </a:srgbClr>
                </a:solidFill>
                <a:latin typeface="Microsoft YaHei"/>
                <a:ea typeface="Microsoft YaHei"/>
              </a:rPr>
              <a:t>工具使用指南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1125200" y="62674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3A8A">
                    <a:alpha val="45000"/>
                  </a:srgbClr>
                </a:solidFill>
                <a:latin typeface="Microsoft YaHei"/>
                <a:ea typeface="Microsoft YaHei"/>
              </a:rPr>
              <a:t>02 / 05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7" name="" descr="&lt;Slide style={{&#10;    width: '1280px',&#10;    height: '720px',&#10;    background: '#F4F7FF',&#10;    padding: '24px 64px',&#10;    flexDirection: 'column',&#10;}}&gt;&#10;    &lt;Box style={{ height: 96, flexDirection: 'row', alignItems: 'center', gap: 16 }}&gt;&#10;        &lt;Box style={{ width: 6, height: 44, background: '#2563EB' }} /&gt;&#10;        &lt;Box style={{ flexDirection: 'column', justifyContent: 'center' }}&gt;&#10;            &lt;Text style={{ fontSize: 34, fontWeight: 'bold', color: '#1E3A8A', lineHeight: 1.25 }}&gt;工具二 · 通用写作与答疑助手&lt;/Text&gt;&#10;            &lt;Text style={{ fontSize: 15, color: 'rgba(30,58,138,0.65)', lineHeight: 1.5 }}&gt;代表工具：DeepSeek · ChatGPT · 文心一言&lt;/Text&gt;&#10;        &lt;/Box&gt;&#10;    &lt;/Box&gt;&#10;    &lt;Box style={{ height: 516, flexDirection: 'column', gap: 16 }}&gt;&#10;        &lt;Box style={{&#10;            height: 84,&#10;            background: 'rgba(37,99,235,0.10)',&#10;            borderLeft: '4px solid #2563EB',&#10;            borderRadius: 14,&#10;            padding: '0 24px',&#10;            flexDirection: 'row',&#10;            alignItems: 'center',&#10;            gap: 16,&#10;        }}&gt;&#10;            &lt;Text style={{ fontSize: 15, fontWeight: 'bold', color: '#2563EB', lineHeight: 1.4 }}&gt;一句话定位&lt;/Text&gt;&#10;            &lt;Text style={{ fontSize: 22, fontWeight: 'bold', color: '#1E3A8A', lineHeight: 1.45 }}&gt;随身「第二大脑」——写作与答疑的效率搭子&lt;/Text&gt;&#10;            &lt;Box style={{ marginLeft: 'auto', flexDirection: 'row', alignItems: 'center', gap: 10 }}&gt;&#10;                &lt;Text style={{ fontSize: 14, fontWeight: 'bold', color: '#2563EB', lineHeight: 1.4 }}&gt;上手难度&lt;/Text&gt;&#10;                &lt;Box style={{ flexDirection: 'row', alignItems: 'center', gap: 2 }}&gt;&#10;                    &lt;Text style={{ fontSize: 16, color: '#2563EB', lineHeight: 1.4 }}&gt;★★&lt;/Text&gt;&#10;                    &lt;Text style={{ fontSize: 16, color: 'rgba(37,99,235,0.28)', lineHeight: 1.4 }}&gt;★&lt;/Text&gt;&#10;                &lt;/Box&gt;&#10;                &lt;Text style={{ fontSize: 14, color: 'rgba(30,58,138,0.6)', lineHeight: 1.4 }}&gt;需一点提示词技巧&lt;/Text&gt;&#10;            &lt;/Box&gt;&#10;        &lt;/Box&gt;&#10;        &lt;Box style={{ height: 416, flexDirection: 'row', gap: 24 }}&gt;&#10;            &lt;Box style={{&#10;                width: 664,&#10;                height: 416,&#10;                background: '#FFFFFF',&#10;                border: '1px solid rgba(37,99,235,0.22)',&#10;                borderRadius: 14,&#10;                padding: '20px 24px',&#10;                flexDirection: 'column',&#10;            }}&gt;&#10;                &lt;Text style={{ fontSize: 15, fontWeight: 'bold', color: '#2563EB', lineHeight: 1.4 }}&gt;3 个核心功能&lt;/Text&gt;&#10;                &lt;Box style={{ height: 16 }} /&gt;&#10;                &lt;Box style={{ flexDirection: 'row', gap: 12, alignItems: 'flex-start' }}&gt;&#10;                    &lt;FAIcon name='comments' style={{ fill: '#2563EB', width: 22, height: 22 }} /&gt;&#10;                    &lt;Box style={{ flexDirection: 'column' }}&gt;&#10;                        &lt;Text style={{ fontSize: 19, fontWeight: 'bold', color: '#1E3A8A', lineHeight: 1.4 }}&gt;对话答疑&lt;/Text&gt;&#10;                        &lt;Text style={{ fontSize: 16, color: '#111827', lineHeight: 1.5 }}&gt;多轮追问把模糊问题逼到具体，还能指定角色扮演面试官、审稿人&lt;/Text&gt;&#10;                    &lt;/Box&gt;&#10;                &lt;/Box&gt;&#10;                &lt;Box style={{ height: 14 }} /&gt;&#10;                &lt;Box style={{ flexDirection: 'row', gap: 12, alignItems: 'flex-start' }}&gt;&#10;                    &lt;FAIcon name='pencil-alt' style={{ fill: '#2563EB', width: 22, height: 22 }} /&gt;&#10;                    &lt;Box style={{ flexDirection: 'column' }}&gt;&#10;                        &lt;Text style={{ fontSize: 19, fontWeight: 'bold', color: '#1E3A8A', lineHeight: 1.4 }}&gt;写作润色&lt;/Text&gt;&#10;                        &lt;Text style={{ fontSize: 16, color: '#111827', lineHeight: 1.5 }}&gt;论文、报告与英文作文的起草、扩写与语言润色，先给一版能改的初稿&lt;/Text&gt;&#10;                    &lt;/Box&gt;&#10;                &lt;/Box&gt;&#10;                &lt;Box style={{ height: 14 }} /&gt;&#10;                &lt;Box style={{ flexDirection: 'row', gap: 12, alignItems: 'flex-start' }}&gt;&#10;                    &lt;FAIcon name='code' style={{ fill: '#2563EB', width: 22, height: 22 }} /&gt;&#10;                    &lt;Box style={{ flexDirection: 'column' }}&gt;&#10;                        &lt;Text style={{ fontSize: 19, fontWeight: 'bold', color: '#1E3A8A', lineHeight: 1.4 }}&gt;代码调试&lt;/Text&gt;&#10;                        &lt;Text style={{ fontSize: 16, color: '#111827', lineHeight: 1.5 }}&gt;定位报错原因、解释代码逻辑，给出可运行的修改方案&lt;/Text&gt;&#10;                    &lt;/Box&gt;&#10;                &lt;/Box&gt;&#10;            &lt;/Box&gt;&#10;            &lt;Box style={{&#10;                width: 464,&#10;                height: 416,&#10;                position: 'relative',&#10;                borderRadius: 16,&#10;                overflow: 'hidden',&#10;                background: '#FFFFFF',&#10;            }}&gt;&#10;                &lt;Image&#10;                    src='assets/tool2_writing.png'&#10;                    style={{ width: 464, height: 416, objectFit: 'cover' }}&#10;                /&gt;&#10;                &lt;Box style={{&#10;                    position: 'absolute',&#10;                    left: 14,&#10;                    right: 14,&#10;                    bottom: 14,&#10;                    background: 'rgba(255,255,255,0.94)',&#10;                    borderRadius: 12,&#10;                    padding: '12px 16px',&#10;                    flexDirection: 'column',&#10;                }}&gt;&#10;                    &lt;Text style={{ fontSize: 14, fontWeight: 'bold', color: '#2563EB', lineHeight: 1.4 }}&gt;适用场景&lt;/Text&gt;&#10;                    &lt;Box style={{ height: 4 }} /&gt;&#10;                    &lt;Text style={{ fontSize: 15, color: '#111827', lineHeight: 1.5 }}&gt;代码报错找不到原因 · 英语作文找人批改 · 答辩前模拟被提问&lt;/Text&gt;&#10;                &lt;/Box&gt;&#10;            &lt;/Box&gt;&#10;        &lt;/Box&gt;&#10;    &lt;/Box&gt;&#10;    &lt;Box style={{ height: 60, flexDirection: 'row', justifyContent: 'space-between', alignItems: 'center' }}&gt;&#10;        &lt;Text style={{ fontSize: 14, color: 'rgba(30,58,138,0.45)' }}&gt;大学生必备AI工具使用指南&lt;/Text&gt;&#10;        &lt;Text style={{ fontSize: 14, color: 'rgba(30,58,138,0.45)' }}&gt;03 / 0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7FF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609600" y="476250"/>
            <a:ext cx="57150" cy="419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19150" y="314325"/>
            <a:ext cx="42291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E3A8A"/>
                </a:solidFill>
                <a:latin typeface="Microsoft YaHei"/>
                <a:ea typeface="Microsoft YaHei"/>
              </a:rPr>
              <a:t>工具二</a:t>
            </a:r>
            <a:r>
              <a:rPr lang="en-US" sz="2550" b="1">
                <a:solidFill>
                  <a:srgbClr val="1E3A8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1E3A8A"/>
                </a:solidFill>
                <a:latin typeface="Microsoft YaHei"/>
                <a:ea typeface="Microsoft YaHei"/>
              </a:rPr>
              <a:t>通用写作与答疑助手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819150" y="800100"/>
            <a:ext cx="4229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E3A8A">
                    <a:alpha val="65000"/>
                  </a:srgbClr>
                </a:solidFill>
                <a:latin typeface="Microsoft YaHei"/>
                <a:ea typeface="Microsoft YaHei"/>
              </a:rPr>
              <a:t>代表工具：</a:t>
            </a:r>
            <a:r>
              <a:rPr lang="en-US" sz="1125">
                <a:solidFill>
                  <a:srgbClr val="1E3A8A">
                    <a:alpha val="65000"/>
                  </a:srgbClr>
                </a:solidFill>
                <a:latin typeface="Microsoft YaHei"/>
                <a:ea typeface="Microsoft YaHei"/>
              </a:rPr>
              <a:t xml:space="preserve">DeepSeek · ChatGPT · </a:t>
            </a:r>
            <a:r>
              <a:rPr lang="zh-CN" sz="1125">
                <a:solidFill>
                  <a:srgbClr val="1E3A8A">
                    <a:alpha val="65000"/>
                  </a:srgbClr>
                </a:solidFill>
                <a:latin typeface="Microsoft YaHei"/>
                <a:ea typeface="Microsoft YaHei"/>
              </a:rPr>
              <a:t>文心一言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647700" y="1143000"/>
            <a:ext cx="10972800" cy="800100"/>
          </a:xfrm>
          <a:prstGeom prst="roundRect">
            <a:avLst>
              <a:gd name="adj" fmla="val 16667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647700" y="1143000"/>
            <a:ext cx="10972800" cy="800100"/>
          </a:xfrm>
          <a:custGeom>
            <a:pathLst>
              <a:path w="1152" h="84">
                <a:moveTo>
                  <a:pt x="13" y="0"/>
                </a:moveTo>
                <a:cubicBezTo>
                  <a:pt x="8" y="1"/>
                  <a:pt x="4" y="5"/>
                  <a:pt x="4" y="10"/>
                </a:cubicBezTo>
                <a:lnTo>
                  <a:pt x="4" y="74"/>
                </a:lnTo>
                <a:cubicBezTo>
                  <a:pt x="4" y="78"/>
                  <a:pt x="7" y="82"/>
                  <a:pt x="11" y="84"/>
                </a:cubicBezTo>
                <a:cubicBezTo>
                  <a:pt x="5" y="82"/>
                  <a:pt x="0" y="77"/>
                  <a:pt x="0" y="70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76300" y="1419225"/>
            <a:ext cx="71437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一句话定位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743075" y="1362075"/>
            <a:ext cx="4229100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 b="1">
                <a:solidFill>
                  <a:srgbClr val="1E3A8A"/>
                </a:solidFill>
                <a:latin typeface="Microsoft YaHei"/>
                <a:ea typeface="Microsoft YaHei"/>
              </a:rPr>
              <a:t>随身「第二大脑」——写作与答疑的效率搭子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9153525" y="1438275"/>
            <a:ext cx="5334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 b="1">
                <a:solidFill>
                  <a:srgbClr val="2563EB"/>
                </a:solidFill>
                <a:latin typeface="Microsoft YaHei"/>
                <a:ea typeface="Microsoft YaHei"/>
              </a:rPr>
              <a:t>上手难度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9782175" y="1419225"/>
            <a:ext cx="257175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sz="1200">
                <a:solidFill>
                  <a:srgbClr val="2563EB"/>
                </a:solidFill>
                <a:latin typeface="Microsoft YaHei"/>
                <a:ea typeface="Microsoft YaHei"/>
              </a:rPr>
              <a:t>★★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0058400" y="1419225"/>
            <a:ext cx="1333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sz="1200">
                <a:solidFill>
                  <a:srgbClr val="2563EB">
                    <a:alpha val="28000"/>
                  </a:srgbClr>
                </a:solidFill>
                <a:latin typeface="Microsoft YaHei"/>
                <a:ea typeface="Microsoft YaHei"/>
              </a:rPr>
              <a:t>★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0287000" y="1438275"/>
            <a:ext cx="10668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1E3A8A">
                    <a:alpha val="60000"/>
                  </a:srgbClr>
                </a:solidFill>
                <a:latin typeface="Microsoft YaHei"/>
                <a:ea typeface="Microsoft YaHei"/>
              </a:rPr>
              <a:t>需一点提示词技巧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609600" y="2095500"/>
            <a:ext cx="6324600" cy="3962400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 w="12700">
            <a:solidFill>
              <a:srgbClr val="2563EB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38200" y="2286000"/>
            <a:ext cx="58674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个核心功能</a:t>
            </a:r>
            <a:endParaRPr/>
          </a:p>
        </p:txBody>
      </p:sp>
      <p:pic>
        <p:nvPicPr>
          <p:cNvPr id="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2686050"/>
            <a:ext cx="209550" cy="209550"/>
          </a:xfrm>
          <a:prstGeom prst="rect">
            <a:avLst/>
          </a:prstGeom>
          <a:ln/>
        </p:spPr>
      </p:pic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162050" y="2686050"/>
            <a:ext cx="44196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3A8A"/>
                </a:solidFill>
                <a:latin typeface="Microsoft YaHei"/>
                <a:ea typeface="Microsoft YaHei"/>
              </a:rPr>
              <a:t>对话答疑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162050" y="2990850"/>
            <a:ext cx="4419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11827"/>
                </a:solidFill>
                <a:latin typeface="Microsoft YaHei"/>
                <a:ea typeface="Microsoft YaHei"/>
              </a:rPr>
              <a:t>多轮追问把模糊问题逼到具体，还能指定角色扮演面试官、审稿人</a:t>
            </a:r>
            <a:endParaRPr/>
          </a:p>
        </p:txBody>
      </p:sp>
      <p:pic>
        <p:nvPicPr>
          <p:cNvPr id="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38200" y="3400425"/>
            <a:ext cx="209550" cy="209550"/>
          </a:xfrm>
          <a:prstGeom prst="rect">
            <a:avLst/>
          </a:prstGeom>
          <a:ln/>
        </p:spPr>
      </p:pic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62050" y="3400425"/>
            <a:ext cx="47244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3A8A"/>
                </a:solidFill>
                <a:latin typeface="Microsoft YaHei"/>
                <a:ea typeface="Microsoft YaHei"/>
              </a:rPr>
              <a:t>写作润色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62050" y="3705225"/>
            <a:ext cx="4724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11827"/>
                </a:solidFill>
                <a:latin typeface="Microsoft YaHei"/>
                <a:ea typeface="Microsoft YaHei"/>
              </a:rPr>
              <a:t>论文、报告与英文作文的起草、扩写与语言润色，先给一版能改的初稿</a:t>
            </a:r>
            <a:endParaRPr/>
          </a:p>
        </p:txBody>
      </p:sp>
      <p:pic>
        <p:nvPicPr>
          <p:cNvPr id="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8200" y="4114800"/>
            <a:ext cx="209550" cy="209550"/>
          </a:xfrm>
          <a:prstGeom prst="rect">
            <a:avLst/>
          </a:prstGeom>
          <a:ln/>
        </p:spPr>
      </p:pic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1162050" y="4114800"/>
            <a:ext cx="36576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3A8A"/>
                </a:solidFill>
                <a:latin typeface="Microsoft YaHei"/>
                <a:ea typeface="Microsoft YaHei"/>
              </a:rPr>
              <a:t>代码调试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162050" y="4419600"/>
            <a:ext cx="3657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11827"/>
                </a:solidFill>
                <a:latin typeface="Microsoft YaHei"/>
                <a:ea typeface="Microsoft YaHei"/>
              </a:rPr>
              <a:t>定位报错原因、解释代码逻辑，给出可运行的修改方案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09600" y="626745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3A8A">
                    <a:alpha val="45000"/>
                  </a:srgbClr>
                </a:solidFill>
                <a:latin typeface="Microsoft YaHei"/>
                <a:ea typeface="Microsoft YaHei"/>
              </a:rPr>
              <a:t>大学生必备</a:t>
            </a:r>
            <a:r>
              <a:rPr lang="en-US" sz="1050">
                <a:solidFill>
                  <a:srgbClr val="1E3A8A">
                    <a:alpha val="45000"/>
                  </a:srgbClr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1E3A8A">
                    <a:alpha val="45000"/>
                  </a:srgbClr>
                </a:solidFill>
                <a:latin typeface="Microsoft YaHei"/>
                <a:ea typeface="Microsoft YaHei"/>
              </a:rPr>
              <a:t>工具使用指南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1125200" y="62674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3A8A">
                    <a:alpha val="45000"/>
                  </a:srgbClr>
                </a:solidFill>
                <a:latin typeface="Microsoft YaHei"/>
                <a:ea typeface="Microsoft YaHei"/>
              </a:rPr>
              <a:t>03 / 05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7162800" y="2095500"/>
            <a:ext cx="4419600" cy="39624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4" name=""/>
          <p:cNvPicPr>
            <a:picLocks noChangeAspect="1"/>
          </p:cNvPicPr>
          <p:nvPr/>
        </p:nvPicPr>
        <p:blipFill>
          <a:blip r:embed="rId4"/>
          <a:srcRect l="0" t="20114" r="0" b="20114"/>
          <a:stretch>
            <a:fillRect/>
          </a:stretch>
        </p:blipFill>
        <p:spPr>
          <a:xfrm rot="0" flipH="0" flipV="0">
            <a:off x="7162800" y="2095500"/>
            <a:ext cx="4419600" cy="3962400"/>
          </a:xfrm>
          <a:custGeom>
            <a:pathLst>
              <a:path w="464" h="416">
                <a:moveTo>
                  <a:pt x="448" y="0"/>
                </a:moveTo>
                <a:cubicBezTo>
                  <a:pt x="457" y="0"/>
                  <a:pt x="464" y="7"/>
                  <a:pt x="464" y="16"/>
                </a:cubicBezTo>
                <a:lnTo>
                  <a:pt x="464" y="400"/>
                </a:lnTo>
                <a:cubicBezTo>
                  <a:pt x="464" y="409"/>
                  <a:pt x="457" y="416"/>
                  <a:pt x="448" y="416"/>
                </a:cubicBezTo>
                <a:lnTo>
                  <a:pt x="16" y="416"/>
                </a:lnTo>
                <a:cubicBezTo>
                  <a:pt x="7" y="416"/>
                  <a:pt x="0" y="409"/>
                  <a:pt x="0" y="400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448" y="0"/>
                </a:lnTo>
                <a:close/>
              </a:path>
            </a:pathLst>
          </a:custGeom>
          <a:ln/>
        </p:spPr>
      </p:pic>
      <p:sp>
        <p:nvSpPr>
          <p:cNvPr id="75" name=""/>
          <p:cNvSpPr/>
          <p:nvPr/>
        </p:nvSpPr>
        <p:spPr>
          <a:xfrm rot="0" flipH="0" flipV="0">
            <a:off x="7296150" y="5172075"/>
            <a:ext cx="4152900" cy="752475"/>
          </a:xfrm>
          <a:prstGeom prst="roundRect">
            <a:avLst>
              <a:gd name="adj" fmla="val 15190"/>
            </a:avLst>
          </a:prstGeom>
          <a:solidFill>
            <a:srgbClr val="FFFFFF">
              <a:alpha val="94000"/>
            </a:srgbClr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448550" y="5286375"/>
            <a:ext cx="38481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 b="1">
                <a:solidFill>
                  <a:srgbClr val="2563EB"/>
                </a:solidFill>
                <a:latin typeface="Microsoft YaHei"/>
                <a:ea typeface="Microsoft YaHei"/>
              </a:rPr>
              <a:t>适用场景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448550" y="5553075"/>
            <a:ext cx="38481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11827"/>
                </a:solidFill>
                <a:latin typeface="Microsoft YaHei"/>
                <a:ea typeface="Microsoft YaHei"/>
              </a:rPr>
              <a:t>代码报错找不到原因</a:t>
            </a:r>
            <a:r>
              <a:rPr lang="en-US" sz="1125">
                <a:solidFill>
                  <a:srgbClr val="11182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111827"/>
                </a:solidFill>
                <a:latin typeface="Microsoft YaHei"/>
                <a:ea typeface="Microsoft YaHei"/>
              </a:rPr>
              <a:t>英语作文找人批改</a:t>
            </a:r>
            <a:r>
              <a:rPr lang="en-US" sz="1125">
                <a:solidFill>
                  <a:srgbClr val="111827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111827"/>
                </a:solidFill>
                <a:latin typeface="Microsoft YaHei"/>
                <a:ea typeface="Microsoft YaHei"/>
              </a:rPr>
              <a:t>答辩前模拟被提问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8" name="" descr="&lt;Slide style={{&#10;    width: '1280px',&#10;    height: '720px',&#10;    background: '#F4F7FF',&#10;    padding: '24px 64px',&#10;    flexDirection: 'column',&#10;}}&gt;&#10;    &lt;Box style={{ height: 96, flexDirection: 'row', alignItems: 'center', gap: 16 }}&gt;&#10;        &lt;Box style={{ width: 6, height: 44, background: '#2563EB' }} /&gt;&#10;        &lt;Box style={{ flexDirection: 'column', justifyContent: 'center' }}&gt;&#10;            &lt;Text style={{ fontSize: 34, fontWeight: 'bold', color: '#1E3A8A', lineHeight: 1.25 }}&gt;工具三 · 演示与创意生成&lt;/Text&gt;&#10;            &lt;Text style={{ fontSize: 15, color: 'rgba(30,58,138,0.65)', lineHeight: 1.5 }}&gt;代表工具：Gamma · 可画 · 剪映 · 即梦&lt;/Text&gt;&#10;        &lt;/Box&gt;&#10;    &lt;/Box&gt;&#10;    &lt;Box style={{ height: 516, flexDirection: 'row', gap: 24 }}&gt;&#10;        &lt;Box style={{&#10;            width: 384,&#10;            height: 516,&#10;            background: '#1E3A8A',&#10;            borderRadius: 16,&#10;            padding: 28,&#10;            flexDirection: 'column',&#10;        }}&gt;&#10;            &lt;Box style={{&#10;                width: 68,&#10;                height: 68,&#10;                borderRadius: 34,&#10;                background: '#2563EB',&#10;                justifyContent: 'center',&#10;                alignItems: 'center',&#10;            }}&gt;&#10;                &lt;FAIcon name='magic' style={{ fill: '#F4F7FF', width: 34, height: 34 }} /&gt;&#10;            &lt;/Box&gt;&#10;            &lt;Box style={{ height: 18 }} /&gt;&#10;            &lt;Text style={{ fontSize: 15, color: 'rgba(255,255,255,0.6)', lineHeight: 1.4 }}&gt;工具三&lt;/Text&gt;&#10;            &lt;Text style={{ fontSize: 26, fontWeight: 'bold', color: '#FFFFFF', lineHeight: 1.3 }}&gt;演示与创意生成&lt;/Text&gt;&#10;            &lt;Box style={{ height: 14 }} /&gt;&#10;            &lt;Text style={{ fontSize: 17, color: 'rgba(255,255,255,0.82)', lineHeight: 1.55 }}&gt;把一句话想法，直接变成能展示的成品&lt;/Text&gt;&#10;            &lt;Box style={{ height: 16 }} /&gt;&#10;            &lt;Box style={{ flexDirection: 'row', alignItems: 'center', gap: 10 }}&gt;&#10;                &lt;Text style={{ fontSize: 14, fontWeight: 'bold', color: 'rgba(255,255,255,0.65)', lineHeight: 1.4 }}&gt;上手难度&lt;/Text&gt;&#10;                &lt;Text style={{ fontSize: 16, color: '#F4F7FF', lineHeight: 1.4 }}&gt;★★★&lt;/Text&gt;&#10;                &lt;Text style={{ fontSize: 14, color: 'rgba(255,255,255,0.7)', lineHeight: 1.4 }}&gt;需练习提示词与审美&lt;/Text&gt;&#10;            &lt;/Box&gt;&#10;            &lt;Box style={{ flex: 1 }} /&gt;&#10;            &lt;Box style={{ width: 68, height: 2, background: 'rgba(255,255,255,0.35)' }} /&gt;&#10;            &lt;Box style={{ height: 18 }} /&gt;&#10;            &lt;Text style={{ fontSize: 15, fontWeight: 'bold', color: 'rgba(255,255,255,0.65)', lineHeight: 1.4 }}&gt;适用场景&lt;/Text&gt;&#10;            &lt;Box style={{ height: 10 }} /&gt;&#10;            &lt;Box style={{ flexDirection: 'row', alignItems: 'center', gap: 10 }}&gt;&#10;                &lt;Box style={{ width: 8, height: 8, background: '#2563EB' }} /&gt;&#10;                &lt;Text style={{ fontSize: 16, color: 'rgba(255,255,255,0.92)' }}&gt;小组作业与课程汇报&lt;/Text&gt;&#10;            &lt;/Box&gt;&#10;            &lt;Box style={{ height: 8 }} /&gt;&#10;            &lt;Box style={{ flexDirection: 'row', alignItems: 'center', gap: 10 }}&gt;&#10;                &lt;Box style={{ width: 8, height: 8, background: '#2563EB' }} /&gt;&#10;                &lt;Text style={{ fontSize: 16, color: 'rgba(255,255,255,0.92)' }}&gt;社团招新与活动海报&lt;/Text&gt;&#10;            &lt;/Box&gt;&#10;            &lt;Box style={{ height: 8 }} /&gt;&#10;            &lt;Box style={{ flexDirection: 'row', alignItems: 'center', gap: 10 }}&gt;&#10;                &lt;Box style={{ width: 8, height: 8, background: '#2563EB' }} /&gt;&#10;                &lt;Text style={{ fontSize: 16, color: 'rgba(255,255,255,0.92)' }}&gt;课程展示短视频&lt;/Text&gt;&#10;            &lt;/Box&gt;&#10;        &lt;/Box&gt;&#10;        &lt;Box style={{ width: 744, height: 516, flexDirection: 'column' }}&gt;&#10;            &lt;Box style={{ width: 744, height: 250, borderRadius: 16, overflow: 'hidden', background: '#FFFFFF' }}&gt;&#10;                &lt;Image&#10;                    src='assets/tool3_creating.png'&#10;                    style={{ width: 744, height: 250, objectFit: 'cover' }}&#10;                /&gt;&#10;            &lt;/Box&gt;&#10;            &lt;Box style={{ height: 16 }} /&gt;&#10;            &lt;Box style={{&#10;                marginTop: 'auto',&#10;                background: '#FFFFFF',&#10;                border: '1px solid rgba(37,99,235,0.22)',&#10;                borderRadius: 14,&#10;                padding: '18px 22px',&#10;                flexDirection: 'column',&#10;            }}&gt;&#10;                &lt;Text style={{ fontSize: 15, fontWeight: 'bold', color: '#2563EB', lineHeight: 1.4 }}&gt;3 个核心功能&lt;/Text&gt;&#10;                &lt;Box style={{ height: 12 }} /&gt;&#10;                &lt;Box style={{ flexDirection: 'row', gap: 12, alignItems: 'flex-start' }}&gt;&#10;                    &lt;FAIcon name='copy' style={{ fill: '#2563EB', width: 22, height: 22 }} /&gt;&#10;                    &lt;Box style={{ flexDirection: 'column' }}&gt;&#10;                        &lt;Text style={{ fontSize: 19, fontWeight: 'bold', color: '#1E3A8A', lineHeight: 1.4 }}&gt;一键成稿&lt;/Text&gt;&#10;                        &lt;Text style={{ fontSize: 16, color: '#111827', lineHeight: 1.5 }}&gt;说清主题、页数与风格，几分钟拿到可开讲的 PPT 初稿&lt;/Text&gt;&#10;                    &lt;/Box&gt;&#10;                &lt;/Box&gt;&#10;                &lt;Box style={{ height: 12 }} /&gt;&#10;                &lt;Box style={{ flexDirection: 'row', gap: 12, alignItems: 'flex-start' }}&gt;&#10;                    &lt;FAIcon name='image' style={{ fill: '#2563EB', width: 22, height: 22 }} /&gt;&#10;                    &lt;Box style={{ flexDirection: 'column' }}&gt;&#10;                        &lt;Text style={{ fontSize: 19, fontWeight: 'bold', color: '#1E3A8A', lineHeight: 1.4 }}&gt;海报与图表&lt;/Text&gt;&#10;                        &lt;Text style={{ fontSize: 16, color: '#111827', lineHeight: 1.5 }}&gt;招新海报、活动宣传图与数据可视化，描述清楚即可出图&lt;/Text&gt;&#10;                    &lt;/Box&gt;&#10;                &lt;/Box&gt;&#10;                &lt;Box style={{ height: 12 }} /&gt;&#10;                &lt;Box style={{ flexDirection: 'row', gap: 12, alignItems: 'flex-start' }}&gt;&#10;                    &lt;FAIcon name='video' style={{ fill: '#2563EB', width: 22, height: 22 }} /&gt;&#10;                    &lt;Box style={{ flexDirection: 'column' }}&gt;&#10;                        &lt;Text style={{ fontSize: 19, fontWeight: 'bold', color: '#1E3A8A', lineHeight: 1.4 }}&gt;短视频与配图&lt;/Text&gt;&#10;                        &lt;Text style={{ fontSize: 16, color: '#111827', lineHeight: 1.5 }}&gt;脚本、分镜、配图与字幕一起生成，剪辑节奏先出方案&lt;/Text&gt;&#10;                    &lt;/Box&gt;&#10;                &lt;/Box&gt;&#10;            &lt;/Box&gt;&#10;        &lt;/Box&gt;&#10;    &lt;/Box&gt;&#10;    &lt;Box style={{ height: 60, flexDirection: 'row', justifyContent: 'space-between', alignItems: 'center' }}&gt;&#10;        &lt;Text style={{ fontSize: 14, color: 'rgba(30,58,138,0.45)' }}&gt;大学生必备AI工具使用指南&lt;/Text&gt;&#10;        &lt;Text style={{ fontSize: 14, color: 'rgba(30,58,138,0.45)' }}&gt;04 / 0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7FF"/>
          </a:solidFill>
          <a:ln/>
        </p:spPr>
        <p:txBody>
          <a:bodyPr/>
          <a:p/>
        </p:txBody>
      </p:sp>
      <p:sp>
        <p:nvSpPr>
          <p:cNvPr id="80" name=""/>
          <p:cNvSpPr/>
          <p:nvPr/>
        </p:nvSpPr>
        <p:spPr>
          <a:xfrm rot="0" flipH="0" flipV="0">
            <a:off x="609600" y="476250"/>
            <a:ext cx="57150" cy="419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19150" y="314325"/>
            <a:ext cx="3581400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E3A8A"/>
                </a:solidFill>
                <a:latin typeface="Microsoft YaHei"/>
                <a:ea typeface="Microsoft YaHei"/>
              </a:rPr>
              <a:t>工具三</a:t>
            </a:r>
            <a:r>
              <a:rPr lang="en-US" sz="2550" b="1">
                <a:solidFill>
                  <a:srgbClr val="1E3A8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1E3A8A"/>
                </a:solidFill>
                <a:latin typeface="Microsoft YaHei"/>
                <a:ea typeface="Microsoft YaHei"/>
              </a:rPr>
              <a:t>演示与创意生成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19150" y="800100"/>
            <a:ext cx="35814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E3A8A">
                    <a:alpha val="65000"/>
                  </a:srgbClr>
                </a:solidFill>
                <a:latin typeface="Microsoft YaHei"/>
                <a:ea typeface="Microsoft YaHei"/>
              </a:rPr>
              <a:t>代表工具：</a:t>
            </a:r>
            <a:r>
              <a:rPr lang="en-US" sz="1125">
                <a:solidFill>
                  <a:srgbClr val="1E3A8A">
                    <a:alpha val="65000"/>
                  </a:srgbClr>
                </a:solidFill>
                <a:latin typeface="Microsoft YaHei"/>
                <a:ea typeface="Microsoft YaHei"/>
              </a:rPr>
              <a:t xml:space="preserve">Gamma · </a:t>
            </a:r>
            <a:r>
              <a:rPr lang="zh-CN" sz="1125">
                <a:solidFill>
                  <a:srgbClr val="1E3A8A">
                    <a:alpha val="65000"/>
                  </a:srgbClr>
                </a:solidFill>
                <a:latin typeface="Microsoft YaHei"/>
                <a:ea typeface="Microsoft YaHei"/>
              </a:rPr>
              <a:t>可画</a:t>
            </a:r>
            <a:r>
              <a:rPr lang="en-US" sz="1125">
                <a:solidFill>
                  <a:srgbClr val="1E3A8A">
                    <a:alpha val="6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1E3A8A">
                    <a:alpha val="65000"/>
                  </a:srgbClr>
                </a:solidFill>
                <a:latin typeface="Microsoft YaHei"/>
                <a:ea typeface="Microsoft YaHei"/>
              </a:rPr>
              <a:t>剪映</a:t>
            </a:r>
            <a:r>
              <a:rPr lang="en-US" sz="1125">
                <a:solidFill>
                  <a:srgbClr val="1E3A8A">
                    <a:alpha val="6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1E3A8A">
                    <a:alpha val="65000"/>
                  </a:srgbClr>
                </a:solidFill>
                <a:latin typeface="Microsoft YaHei"/>
                <a:ea typeface="Microsoft YaHei"/>
              </a:rPr>
              <a:t>即梦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609600" y="1143000"/>
            <a:ext cx="3657600" cy="4914900"/>
          </a:xfrm>
          <a:prstGeom prst="roundRect">
            <a:avLst>
              <a:gd name="adj" fmla="val 4167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876300" y="1409700"/>
            <a:ext cx="647700" cy="6477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8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38225" y="1571625"/>
            <a:ext cx="323850" cy="323850"/>
          </a:xfrm>
          <a:prstGeom prst="rect">
            <a:avLst/>
          </a:prstGeom>
          <a:ln/>
        </p:spPr>
      </p:pic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76300" y="2228850"/>
            <a:ext cx="31242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工具三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76300" y="2476500"/>
            <a:ext cx="312420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演示与创意生成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76300" y="3000375"/>
            <a:ext cx="3124200" cy="3048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75">
                <a:solidFill>
                  <a:srgbClr val="FFFFFF">
                    <a:alpha val="82000"/>
                  </a:srgbClr>
                </a:solidFill>
                <a:latin typeface="Microsoft YaHei"/>
                <a:ea typeface="Microsoft YaHei"/>
              </a:rPr>
              <a:t>把一句话想法，直接变成能展示的成品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876300" y="3476625"/>
            <a:ext cx="53340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 b="1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上手难度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504950" y="3457575"/>
            <a:ext cx="38100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sz="1200">
                <a:solidFill>
                  <a:srgbClr val="F4F7FF"/>
                </a:solidFill>
                <a:latin typeface="Microsoft YaHei"/>
                <a:ea typeface="Microsoft YaHei"/>
              </a:rPr>
              <a:t>★★★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1981200" y="3476625"/>
            <a:ext cx="1200150" cy="2286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050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需练习提示词与审美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876300" y="4533900"/>
            <a:ext cx="647700" cy="19050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76300" y="4724400"/>
            <a:ext cx="31242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适用场景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876300" y="5124450"/>
            <a:ext cx="76200" cy="76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047750" y="506730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小组作业与课程汇报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876300" y="5391150"/>
            <a:ext cx="76200" cy="76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047750" y="533400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社团招新与活动海报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876300" y="5657850"/>
            <a:ext cx="76200" cy="762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047750" y="5600700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92000"/>
                  </a:srgbClr>
                </a:solidFill>
                <a:latin typeface="Microsoft YaHei"/>
                <a:ea typeface="Microsoft YaHei"/>
              </a:rPr>
              <a:t>课程展示短视频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4495800" y="1143000"/>
            <a:ext cx="7086600" cy="238125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01" name=""/>
          <p:cNvPicPr>
            <a:picLocks noChangeAspect="1"/>
          </p:cNvPicPr>
          <p:nvPr/>
        </p:nvPicPr>
        <p:blipFill>
          <a:blip r:embed="rId2"/>
          <a:srcRect l="0" t="24798" r="0" b="24798"/>
          <a:stretch>
            <a:fillRect/>
          </a:stretch>
        </p:blipFill>
        <p:spPr>
          <a:xfrm rot="0" flipH="0" flipV="0">
            <a:off x="4495800" y="1143000"/>
            <a:ext cx="7086600" cy="2381250"/>
          </a:xfrm>
          <a:custGeom>
            <a:pathLst>
              <a:path w="744" h="250">
                <a:moveTo>
                  <a:pt x="728" y="0"/>
                </a:moveTo>
                <a:cubicBezTo>
                  <a:pt x="737" y="0"/>
                  <a:pt x="744" y="7"/>
                  <a:pt x="744" y="16"/>
                </a:cubicBezTo>
                <a:lnTo>
                  <a:pt x="744" y="234"/>
                </a:lnTo>
                <a:cubicBezTo>
                  <a:pt x="744" y="243"/>
                  <a:pt x="737" y="250"/>
                  <a:pt x="728" y="250"/>
                </a:cubicBezTo>
                <a:lnTo>
                  <a:pt x="16" y="250"/>
                </a:lnTo>
                <a:cubicBezTo>
                  <a:pt x="7" y="250"/>
                  <a:pt x="0" y="243"/>
                  <a:pt x="0" y="234"/>
                </a:cubicBezTo>
                <a:lnTo>
                  <a:pt x="0" y="16"/>
                </a:lnTo>
                <a:cubicBezTo>
                  <a:pt x="0" y="7"/>
                  <a:pt x="7" y="0"/>
                  <a:pt x="16" y="0"/>
                </a:cubicBezTo>
                <a:lnTo>
                  <a:pt x="728" y="0"/>
                </a:lnTo>
                <a:close/>
              </a:path>
            </a:pathLst>
          </a:custGeom>
          <a:ln/>
        </p:spPr>
      </p:pic>
      <p:sp>
        <p:nvSpPr>
          <p:cNvPr id="102" name=""/>
          <p:cNvSpPr/>
          <p:nvPr/>
        </p:nvSpPr>
        <p:spPr>
          <a:xfrm rot="0" flipH="0" flipV="0">
            <a:off x="4495800" y="3381375"/>
            <a:ext cx="7086600" cy="2676525"/>
          </a:xfrm>
          <a:prstGeom prst="roundRect">
            <a:avLst>
              <a:gd name="adj" fmla="val 4982"/>
            </a:avLst>
          </a:prstGeom>
          <a:solidFill>
            <a:srgbClr val="FFFFFF"/>
          </a:solidFill>
          <a:ln w="12700">
            <a:solidFill>
              <a:srgbClr val="2563EB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4705350" y="3552825"/>
            <a:ext cx="6667500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125" b="1">
                <a:solidFill>
                  <a:srgbClr val="2563EB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个核心功能</a:t>
            </a:r>
            <a:endParaRPr/>
          </a:p>
        </p:txBody>
      </p:sp>
      <p:pic>
        <p:nvPicPr>
          <p:cNvPr id="10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705350" y="3914775"/>
            <a:ext cx="209550" cy="209550"/>
          </a:xfrm>
          <a:prstGeom prst="rect">
            <a:avLst/>
          </a:prstGeom>
          <a:ln/>
        </p:spPr>
      </p:pic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5029200" y="3914775"/>
            <a:ext cx="3724275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3A8A"/>
                </a:solidFill>
                <a:latin typeface="Microsoft YaHei"/>
                <a:ea typeface="Microsoft YaHei"/>
              </a:rPr>
              <a:t>一键成稿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029200" y="4219575"/>
            <a:ext cx="37242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11827"/>
                </a:solidFill>
                <a:latin typeface="Microsoft YaHei"/>
                <a:ea typeface="Microsoft YaHei"/>
              </a:rPr>
              <a:t>说清主题、页数与风格，几分钟拿到可开讲的</a:t>
            </a:r>
            <a:r>
              <a:rPr lang="en-US" sz="1200">
                <a:solidFill>
                  <a:srgbClr val="111827"/>
                </a:solidFill>
                <a:latin typeface="Microsoft YaHei"/>
                <a:ea typeface="Microsoft YaHei"/>
              </a:rPr>
              <a:t xml:space="preserve"> PPT </a:t>
            </a:r>
            <a:r>
              <a:rPr lang="zh-CN" sz="1200">
                <a:solidFill>
                  <a:srgbClr val="111827"/>
                </a:solidFill>
                <a:latin typeface="Microsoft YaHei"/>
                <a:ea typeface="Microsoft YaHei"/>
              </a:rPr>
              <a:t>初稿</a:t>
            </a:r>
            <a:endParaRPr/>
          </a:p>
        </p:txBody>
      </p:sp>
      <p:pic>
        <p:nvPicPr>
          <p:cNvPr id="1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705350" y="4610100"/>
            <a:ext cx="209550" cy="209550"/>
          </a:xfrm>
          <a:prstGeom prst="rect">
            <a:avLst/>
          </a:prstGeom>
          <a:ln/>
        </p:spPr>
      </p:pic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029200" y="4610100"/>
            <a:ext cx="38100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3A8A"/>
                </a:solidFill>
                <a:latin typeface="Microsoft YaHei"/>
                <a:ea typeface="Microsoft YaHei"/>
              </a:rPr>
              <a:t>海报与图表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5029200" y="4914900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11827"/>
                </a:solidFill>
                <a:latin typeface="Microsoft YaHei"/>
                <a:ea typeface="Microsoft YaHei"/>
              </a:rPr>
              <a:t>招新海报、活动宣传图与数据可视化，描述清楚即可出图</a:t>
            </a:r>
            <a:endParaRPr/>
          </a:p>
        </p:txBody>
      </p:sp>
      <p:pic>
        <p:nvPicPr>
          <p:cNvPr id="1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705350" y="5305425"/>
            <a:ext cx="209550" cy="209550"/>
          </a:xfrm>
          <a:prstGeom prst="rect">
            <a:avLst/>
          </a:prstGeom>
          <a:ln/>
        </p:spPr>
      </p:pic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029200" y="5305425"/>
            <a:ext cx="3657600" cy="3048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b="1">
                <a:solidFill>
                  <a:srgbClr val="1E3A8A"/>
                </a:solidFill>
                <a:latin typeface="Microsoft YaHei"/>
                <a:ea typeface="Microsoft YaHei"/>
              </a:rPr>
              <a:t>短视频与配图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5029200" y="5610225"/>
            <a:ext cx="36576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11827"/>
                </a:solidFill>
                <a:latin typeface="Microsoft YaHei"/>
                <a:ea typeface="Microsoft YaHei"/>
              </a:rPr>
              <a:t>脚本、分镜、配图与字幕一起生成，剪辑节奏先出方案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09600" y="626745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3A8A">
                    <a:alpha val="45000"/>
                  </a:srgbClr>
                </a:solidFill>
                <a:latin typeface="Microsoft YaHei"/>
                <a:ea typeface="Microsoft YaHei"/>
              </a:rPr>
              <a:t>大学生必备</a:t>
            </a:r>
            <a:r>
              <a:rPr lang="en-US" sz="1050">
                <a:solidFill>
                  <a:srgbClr val="1E3A8A">
                    <a:alpha val="45000"/>
                  </a:srgbClr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1E3A8A">
                    <a:alpha val="45000"/>
                  </a:srgbClr>
                </a:solidFill>
                <a:latin typeface="Microsoft YaHei"/>
                <a:ea typeface="Microsoft YaHei"/>
              </a:rPr>
              <a:t>工具使用指南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11125200" y="62674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3A8A">
                    <a:alpha val="45000"/>
                  </a:srgbClr>
                </a:solidFill>
                <a:latin typeface="Microsoft YaHei"/>
                <a:ea typeface="Microsoft YaHei"/>
              </a:rPr>
              <a:t>04 / 05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15" name="" descr="&lt;Slide style={{&#10;    width: '1280px',&#10;    height: '720px',&#10;    background: '#F4F7FF',&#10;    padding: '24px 64px',&#10;    flexDirection: 'column',&#10;}}&gt;&#10;    &lt;Box style={{ height: 96, flexDirection: 'row', alignItems: 'center', gap: 16 }}&gt;&#10;        &lt;Box style={{ width: 6, height: 44, background: '#2563EB' }} /&gt;&#10;        &lt;Box style={{ flexDirection: 'column', justifyContent: 'center' }}&gt;&#10;            &lt;Text style={{ fontSize: 34, fontWeight: 'bold', color: '#1E3A8A', lineHeight: 1.25 }}&gt;总结 · 把 AI 用成副驾驶&lt;/Text&gt;&#10;            &lt;Text style={{ fontSize: 15, color: 'rgba(30,58,138,0.65)', lineHeight: 1.5 }}&gt;读 · 写 · 做，三条要点收束全篇&lt;/Text&gt;&#10;        &lt;/Box&gt;&#10;    &lt;/Box&gt;&#10;    &lt;Box style={{ height: 516, flexDirection: 'column', alignItems: 'center' }}&gt;&#10;        &lt;Box style={{ flexDirection: 'row', alignItems: 'center', gap: 24 }}&gt;&#10;            &lt;Text style={{ fontSize: 96, fontWeight: 'bold', color: '#2563EB', lineHeight: 1.0 }}&gt;3&lt;/Text&gt;&#10;            &lt;Box style={{ flexDirection: 'column', gap: 4 }}&gt;&#10;                &lt;Text style={{ fontSize: 40, fontWeight: 'bold', color: '#1E3A8A', lineHeight: 1.2 }}&gt;条使用要点&lt;/Text&gt;&#10;                &lt;Text style={{ fontSize: 20, color: 'rgba(30,58,138,0.7)', lineHeight: 1.5 }}&gt;先自己想 · 再让 AI 拓展 · 最后人工核验&lt;/Text&gt;&#10;            &lt;/Box&gt;&#10;        &lt;/Box&gt;&#10;        &lt;Box style={{ height: 18 }} /&gt;&#10;        &lt;Box style={{ width: 940, flexDirection: 'column' }}&gt;&#10;            &lt;Box style={{ flexDirection: 'row', gap: 18, alignItems: 'flex-start' }}&gt;&#10;                &lt;Box style={{&#10;                    width: 44,&#10;                    height: 44,&#10;                    borderRadius: 22,&#10;                    background: '#2563EB',&#10;                    justifyContent: 'center',&#10;                    alignItems: 'center',&#10;                }}&gt;&#10;                    &lt;Text style={{ fontSize: 18, fontWeight: 'bold', color: '#F4F7FF' }}&gt;读&lt;/Text&gt;&#10;                &lt;/Box&gt;&#10;                &lt;Box style={{ flexDirection: 'column', gap: 4 }}&gt;&#10;                    &lt;Text style={{ fontSize: 22, fontWeight: 'bold', color: '#1E3A8A', lineHeight: 1.4 }}&gt;先读后筛，再回原文核对&lt;/Text&gt;&#10;                    &lt;Text style={{ fontSize: 18, color: '#111827', lineHeight: 1.5 }}&gt;长文档助手帮你快速判断重点，但真正的理解必须回原文自己完成。&lt;/Text&gt;&#10;                &lt;/Box&gt;&#10;            &lt;/Box&gt;&#10;            &lt;Box style={{ height: 18 }} /&gt;&#10;            &lt;Box style={{ flexDirection: 'row', gap: 18, alignItems: 'flex-start' }}&gt;&#10;                &lt;Box style={{&#10;                    width: 44,&#10;                    height: 44,&#10;                    borderRadius: 22,&#10;                    background: '#2563EB',&#10;                    justifyContent: 'center',&#10;                    alignItems: 'center',&#10;                }}&gt;&#10;                    &lt;Text style={{ fontSize: 18, fontWeight: 'bold', color: '#F4F7FF' }}&gt;写&lt;/Text&gt;&#10;                &lt;/Box&gt;&#10;                &lt;Box style={{ flexDirection: 'column', gap: 4 }}&gt;&#10;                    &lt;Text style={{ fontSize: 22, fontWeight: 'bold', color: '#1E3A8A', lineHeight: 1.4 }}&gt;先搭框架，再让 AI 扩写&lt;/Text&gt;&#10;                    &lt;Text style={{ fontSize: 18, color: '#111827', lineHeight: 1.5 }}&gt;写作与代码交给助手提速，但立意、结构与结论由你拍板。&lt;/Text&gt;&#10;                &lt;/Box&gt;&#10;            &lt;/Box&gt;&#10;            &lt;Box style={{ height: 18 }} /&gt;&#10;            &lt;Box style={{ flexDirection: 'row', gap: 18, alignItems: 'flex-start' }}&gt;&#10;                &lt;Box style={{&#10;                    width: 44,&#10;                    height: 44,&#10;                    borderRadius: 22,&#10;                    background: '#2563EB',&#10;                    justifyContent: 'center',&#10;                    alignItems: 'center',&#10;                }}&gt;&#10;                    &lt;Text style={{ fontSize: 18, fontWeight: 'bold', color: '#F4F7FF' }}&gt;做&lt;/Text&gt;&#10;                &lt;/Box&gt;&#10;                &lt;Box style={{ flexDirection: 'column', gap: 4 }}&gt;&#10;                    &lt;Text style={{ fontSize: 22, fontWeight: 'bold', color: '#1E3A8A', lineHeight: 1.4 }}&gt;先有观点，再交给模板&lt;/Text&gt;&#10;                    &lt;Text style={{ fontSize: 18, color: '#111827', lineHeight: 1.5 }}&gt;演示、海报、视频能一键生成，省下的是排版时间，不是思考时间。&lt;/Text&gt;&#10;                &lt;/Box&gt;&#10;            &lt;/Box&gt;&#10;        &lt;/Box&gt;&#10;        &lt;Box style={{ height: 18 }} /&gt;&#10;        &lt;Box style={{&#10;            width: 940,&#10;            flexDirection: 'row',&#10;            alignItems: 'center',&#10;            gap: 14,&#10;            background: 'rgba(37,99,235,0.10)',&#10;            borderLeft: '4px solid #2563EB',&#10;            borderRadius: 14,&#10;            padding: '12px 22px',&#10;        }}&gt;&#10;            &lt;FAIcon name='arrow-right' style={{ fill: '#2563EB', width: 20, height: 20 }} /&gt;&#10;            &lt;Text style={{ fontSize: 15, fontWeight: 'bold', color: '#2563EB', lineHeight: 1.4 }}&gt;下一步行动&lt;/Text&gt;&#10;            &lt;Text style={{ fontSize: 17, color: '#111827', lineHeight: 1.5 }}&gt;① 选一个工具上手 → ② 用它完成一件真实作业 → ③ 复盘 AI 帮到你的地方与必须自己判断的地方&lt;/Text&gt;&#10;        &lt;/Box&gt;&#10;        &lt;Box style={{ height: 18 }} /&gt;&#10;        &lt;Box style={{&#10;            width: 940,&#10;            background: '#1E3A8A',&#10;            borderRadius: 14,&#10;            padding: '18px 24px',&#10;            justifyContent: 'center',&#10;            alignItems: 'center',&#10;        }}&gt;&#10;            &lt;Text style={{ fontSize: 34, fontWeight: 'bold', color: '#F4F7FF', lineHeight: 1.3 }}&gt;工具决定效率，判断力决定成绩&lt;/Text&gt;&#10;        &lt;/Box&gt;&#10;    &lt;/Box&gt;&#10;    &lt;Box style={{ height: 60, flexDirection: 'row', justifyContent: 'space-between', alignItems: 'center' }}&gt;&#10;        &lt;Text style={{ fontSize: 14, color: 'rgba(30,58,138,0.45)' }}&gt;大学生必备AI工具使用指南&lt;/Text&gt;&#10;        &lt;Text style={{ fontSize: 14, color: 'rgba(30,58,138,0.45)' }}&gt;05 / 05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7FF"/>
          </a:solidFill>
          <a:ln/>
        </p:spPr>
        <p:txBody>
          <a:bodyPr/>
          <a:p/>
        </p:txBody>
      </p:sp>
      <p:sp>
        <p:nvSpPr>
          <p:cNvPr id="117" name=""/>
          <p:cNvSpPr/>
          <p:nvPr/>
        </p:nvSpPr>
        <p:spPr>
          <a:xfrm rot="0" flipH="0" flipV="0">
            <a:off x="609600" y="476250"/>
            <a:ext cx="57150" cy="4191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19150" y="314325"/>
            <a:ext cx="3476625" cy="485775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550" b="1">
                <a:solidFill>
                  <a:srgbClr val="1E3A8A"/>
                </a:solidFill>
                <a:latin typeface="Microsoft YaHei"/>
                <a:ea typeface="Microsoft YaHei"/>
              </a:rPr>
              <a:t>总结</a:t>
            </a:r>
            <a:r>
              <a:rPr lang="en-US" sz="2550" b="1">
                <a:solidFill>
                  <a:srgbClr val="1E3A8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2550" b="1">
                <a:solidFill>
                  <a:srgbClr val="1E3A8A"/>
                </a:solidFill>
                <a:latin typeface="Microsoft YaHei"/>
                <a:ea typeface="Microsoft YaHei"/>
              </a:rPr>
              <a:t>把</a:t>
            </a:r>
            <a:r>
              <a:rPr lang="en-US" sz="2550" b="1">
                <a:solidFill>
                  <a:srgbClr val="1E3A8A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2550" b="1">
                <a:solidFill>
                  <a:srgbClr val="1E3A8A"/>
                </a:solidFill>
                <a:latin typeface="Microsoft YaHei"/>
                <a:ea typeface="Microsoft YaHei"/>
              </a:rPr>
              <a:t>用成副驾驶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819150" y="800100"/>
            <a:ext cx="34766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1E3A8A">
                    <a:alpha val="65000"/>
                  </a:srgbClr>
                </a:solidFill>
                <a:latin typeface="Microsoft YaHei"/>
                <a:ea typeface="Microsoft YaHei"/>
              </a:rPr>
              <a:t>读</a:t>
            </a:r>
            <a:r>
              <a:rPr lang="en-US" sz="1125">
                <a:solidFill>
                  <a:srgbClr val="1E3A8A">
                    <a:alpha val="6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1E3A8A">
                    <a:alpha val="65000"/>
                  </a:srgbClr>
                </a:solidFill>
                <a:latin typeface="Microsoft YaHei"/>
                <a:ea typeface="Microsoft YaHei"/>
              </a:rPr>
              <a:t>写</a:t>
            </a:r>
            <a:r>
              <a:rPr lang="en-US" sz="1125">
                <a:solidFill>
                  <a:srgbClr val="1E3A8A">
                    <a:alpha val="6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1E3A8A">
                    <a:alpha val="65000"/>
                  </a:srgbClr>
                </a:solidFill>
                <a:latin typeface="Microsoft YaHei"/>
                <a:ea typeface="Microsoft YaHei"/>
              </a:rPr>
              <a:t>做，三条要点收束全篇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4048125" y="1143000"/>
            <a:ext cx="5715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2563EB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848225" y="1228725"/>
            <a:ext cx="329565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000" b="1">
                <a:solidFill>
                  <a:srgbClr val="1E3A8A"/>
                </a:solidFill>
                <a:latin typeface="Microsoft YaHei"/>
                <a:ea typeface="Microsoft YaHei"/>
              </a:rPr>
              <a:t>条使用要点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848225" y="1819275"/>
            <a:ext cx="32956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E3A8A">
                    <a:alpha val="70000"/>
                  </a:srgbClr>
                </a:solidFill>
                <a:latin typeface="Microsoft YaHei"/>
                <a:ea typeface="Microsoft YaHei"/>
              </a:rPr>
              <a:t>先自己想</a:t>
            </a:r>
            <a:r>
              <a:rPr lang="en-US" sz="1500">
                <a:solidFill>
                  <a:srgbClr val="1E3A8A">
                    <a:alpha val="7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1E3A8A">
                    <a:alpha val="70000"/>
                  </a:srgbClr>
                </a:solidFill>
                <a:latin typeface="Microsoft YaHei"/>
                <a:ea typeface="Microsoft YaHei"/>
              </a:rPr>
              <a:t>再让</a:t>
            </a:r>
            <a:r>
              <a:rPr lang="en-US" sz="1500">
                <a:solidFill>
                  <a:srgbClr val="1E3A8A">
                    <a:alpha val="70000"/>
                  </a:srgbClr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500">
                <a:solidFill>
                  <a:srgbClr val="1E3A8A">
                    <a:alpha val="70000"/>
                  </a:srgbClr>
                </a:solidFill>
                <a:latin typeface="Microsoft YaHei"/>
                <a:ea typeface="Microsoft YaHei"/>
              </a:rPr>
              <a:t>拓展</a:t>
            </a:r>
            <a:r>
              <a:rPr lang="en-US" sz="1500">
                <a:solidFill>
                  <a:srgbClr val="1E3A8A">
                    <a:alpha val="70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500">
                <a:solidFill>
                  <a:srgbClr val="1E3A8A">
                    <a:alpha val="70000"/>
                  </a:srgbClr>
                </a:solidFill>
                <a:latin typeface="Microsoft YaHei"/>
                <a:ea typeface="Microsoft YaHei"/>
              </a:rPr>
              <a:t>最后人工核验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1619250" y="24193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1743075" y="25241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4F7FF"/>
                </a:solidFill>
                <a:latin typeface="Microsoft YaHei"/>
                <a:ea typeface="Microsoft YaHei"/>
              </a:rPr>
              <a:t>读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2209800" y="2419350"/>
            <a:ext cx="51435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E3A8A"/>
                </a:solidFill>
                <a:latin typeface="Microsoft YaHei"/>
                <a:ea typeface="Microsoft YaHei"/>
              </a:rPr>
              <a:t>先读后筛，再回原文核对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2209800" y="2809875"/>
            <a:ext cx="5143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长文档助手帮你快速判断重点，但真正的理解必须回原文自己完成。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1619250" y="32956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743075" y="34004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4F7FF"/>
                </a:solidFill>
                <a:latin typeface="Microsoft YaHei"/>
                <a:ea typeface="Microsoft YaHei"/>
              </a:rPr>
              <a:t>写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2209800" y="3295650"/>
            <a:ext cx="44577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E3A8A"/>
                </a:solidFill>
                <a:latin typeface="Microsoft YaHei"/>
                <a:ea typeface="Microsoft YaHei"/>
              </a:rPr>
              <a:t>先搭框架，再让</a:t>
            </a:r>
            <a:r>
              <a:rPr lang="en-US" sz="1650" b="1">
                <a:solidFill>
                  <a:srgbClr val="1E3A8A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650" b="1">
                <a:solidFill>
                  <a:srgbClr val="1E3A8A"/>
                </a:solidFill>
                <a:latin typeface="Microsoft YaHei"/>
                <a:ea typeface="Microsoft YaHei"/>
              </a:rPr>
              <a:t>扩写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2209800" y="3686175"/>
            <a:ext cx="44577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写作与代码交给助手提速，但立意、结构与结论由你拍板。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1619250" y="41719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743075" y="4276725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4F7FF"/>
                </a:solidFill>
                <a:latin typeface="Microsoft YaHei"/>
                <a:ea typeface="Microsoft YaHei"/>
              </a:rPr>
              <a:t>做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2209800" y="4171950"/>
            <a:ext cx="5143500" cy="3524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1E3A8A"/>
                </a:solidFill>
                <a:latin typeface="Microsoft YaHei"/>
                <a:ea typeface="Microsoft YaHei"/>
              </a:rPr>
              <a:t>先有观点，再交给模板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2209800" y="4562475"/>
            <a:ext cx="51435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111827"/>
                </a:solidFill>
                <a:latin typeface="Microsoft YaHei"/>
                <a:ea typeface="Microsoft YaHei"/>
              </a:rPr>
              <a:t>演示、海报、视频能一键生成，省下的是排版时间，不是思考时间。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1657350" y="5048250"/>
            <a:ext cx="8915400" cy="523875"/>
          </a:xfrm>
          <a:prstGeom prst="roundRect">
            <a:avLst>
              <a:gd name="adj" fmla="val 25455"/>
            </a:avLst>
          </a:prstGeom>
          <a:solidFill>
            <a:srgbClr val="2563EB">
              <a:alpha val="10000"/>
            </a:srgbClr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1657350" y="5048250"/>
            <a:ext cx="8915400" cy="523875"/>
          </a:xfrm>
          <a:custGeom>
            <a:pathLst>
              <a:path w="936" h="55">
                <a:moveTo>
                  <a:pt x="13" y="0"/>
                </a:moveTo>
                <a:cubicBezTo>
                  <a:pt x="8" y="1"/>
                  <a:pt x="4" y="5"/>
                  <a:pt x="4" y="10"/>
                </a:cubicBezTo>
                <a:lnTo>
                  <a:pt x="4" y="45"/>
                </a:lnTo>
                <a:cubicBezTo>
                  <a:pt x="4" y="49"/>
                  <a:pt x="7" y="53"/>
                  <a:pt x="11" y="55"/>
                </a:cubicBezTo>
                <a:cubicBezTo>
                  <a:pt x="5" y="53"/>
                  <a:pt x="0" y="48"/>
                  <a:pt x="0" y="41"/>
                </a:cubicBez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1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866900" y="5219700"/>
            <a:ext cx="190500" cy="190500"/>
          </a:xfrm>
          <a:prstGeom prst="rect">
            <a:avLst/>
          </a:prstGeom>
          <a:ln/>
        </p:spPr>
      </p:pic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2190750" y="5191125"/>
            <a:ext cx="714375" cy="2476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125" b="1">
                <a:solidFill>
                  <a:srgbClr val="2563EB"/>
                </a:solidFill>
                <a:latin typeface="Microsoft YaHei"/>
                <a:ea typeface="Microsoft YaHei"/>
              </a:rPr>
              <a:t>下一步行动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3038475" y="5162550"/>
            <a:ext cx="7077075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75">
                <a:solidFill>
                  <a:srgbClr val="111827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275">
                <a:solidFill>
                  <a:srgbClr val="111827"/>
                </a:solidFill>
                <a:latin typeface="Microsoft YaHei"/>
                <a:ea typeface="Microsoft YaHei"/>
              </a:rPr>
              <a:t>选一个工具上手</a:t>
            </a:r>
            <a:r>
              <a:rPr lang="en-US" sz="1275">
                <a:solidFill>
                  <a:srgbClr val="111827"/>
                </a:solidFill>
                <a:latin typeface="Microsoft YaHei"/>
                <a:ea typeface="Microsoft YaHei"/>
              </a:rPr>
              <a:t xml:space="preserve"> → ② </a:t>
            </a:r>
            <a:r>
              <a:rPr lang="zh-CN" sz="1275">
                <a:solidFill>
                  <a:srgbClr val="111827"/>
                </a:solidFill>
                <a:latin typeface="Microsoft YaHei"/>
                <a:ea typeface="Microsoft YaHei"/>
              </a:rPr>
              <a:t>用它完成一件真实作业</a:t>
            </a:r>
            <a:r>
              <a:rPr lang="en-US" sz="1275">
                <a:solidFill>
                  <a:srgbClr val="111827"/>
                </a:solidFill>
                <a:latin typeface="Microsoft YaHei"/>
                <a:ea typeface="Microsoft YaHei"/>
              </a:rPr>
              <a:t xml:space="preserve"> → ③ </a:t>
            </a:r>
            <a:r>
              <a:rPr lang="zh-CN" sz="1275">
                <a:solidFill>
                  <a:srgbClr val="111827"/>
                </a:solidFill>
                <a:latin typeface="Microsoft YaHei"/>
                <a:ea typeface="Microsoft YaHei"/>
              </a:rPr>
              <a:t>复盘</a:t>
            </a:r>
            <a:r>
              <a:rPr lang="en-US" sz="1275">
                <a:solidFill>
                  <a:srgbClr val="111827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275">
                <a:solidFill>
                  <a:srgbClr val="111827"/>
                </a:solidFill>
                <a:latin typeface="Microsoft YaHei"/>
                <a:ea typeface="Microsoft YaHei"/>
              </a:rPr>
              <a:t>帮到你的地方与必须自己判断的地方</a:t>
            </a:r>
            <a:endParaRPr/>
          </a:p>
        </p:txBody>
      </p:sp>
      <p:sp>
        <p:nvSpPr>
          <p:cNvPr id="140" name=""/>
          <p:cNvSpPr/>
          <p:nvPr/>
        </p:nvSpPr>
        <p:spPr>
          <a:xfrm rot="0" flipH="0" flipV="0">
            <a:off x="1619250" y="5743575"/>
            <a:ext cx="8953500" cy="857250"/>
          </a:xfrm>
          <a:prstGeom prst="roundRect">
            <a:avLst>
              <a:gd name="adj" fmla="val 15556"/>
            </a:avLst>
          </a:prstGeom>
          <a:solidFill>
            <a:srgbClr val="1E3A8A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3829050" y="5915025"/>
            <a:ext cx="45339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550" b="1">
                <a:solidFill>
                  <a:srgbClr val="F4F7FF"/>
                </a:solidFill>
                <a:latin typeface="Microsoft YaHei"/>
                <a:ea typeface="Microsoft YaHei"/>
              </a:rPr>
              <a:t>工具决定效率，判断力决定成绩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09600" y="6267450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1E3A8A">
                    <a:alpha val="45000"/>
                  </a:srgbClr>
                </a:solidFill>
                <a:latin typeface="Microsoft YaHei"/>
                <a:ea typeface="Microsoft YaHei"/>
              </a:rPr>
              <a:t>大学生必备</a:t>
            </a:r>
            <a:r>
              <a:rPr lang="en-US" sz="1050">
                <a:solidFill>
                  <a:srgbClr val="1E3A8A">
                    <a:alpha val="45000"/>
                  </a:srgbClr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1E3A8A">
                    <a:alpha val="45000"/>
                  </a:srgbClr>
                </a:solidFill>
                <a:latin typeface="Microsoft YaHei"/>
                <a:ea typeface="Microsoft YaHei"/>
              </a:rPr>
              <a:t>工具使用指南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11125200" y="626745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1E3A8A">
                    <a:alpha val="45000"/>
                  </a:srgbClr>
                </a:solidFill>
                <a:latin typeface="Microsoft YaHei"/>
                <a:ea typeface="Microsoft YaHei"/>
              </a:rPr>
              <a:t>05 / 05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2026-10-08T13:17:58Z</dcterms:created>
  <dcterms:modified xsi:type="dcterms:W3CDTF">2026-10-08T13:17:58Z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{"AIGC":{"Label":"1","ContentProducer":"00119111010856365494821B355","ProduceID":"01a1190b488f73a595dad1536c849d17","ReservedCode1":"","ContentPropagator":"00119111010856365494821B355","PropagateID":"01a1190b488f73a595dad1536c849d17","ReservedCode2":""}}</vt:lpwstr>
  </property>
</Properties>
</file>